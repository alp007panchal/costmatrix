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CostMatrix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costing system for electrical panel boards — from enquiry to quotation, with every view we are building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11430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0233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735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in the master library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886200" y="3977640"/>
            <a:ext cx="2926080" cy="11430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23360" y="40233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kits in 17 groups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040880" y="3977640"/>
            <a:ext cx="2926080" cy="11430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78040" y="40233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tracks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app live · advanced app on staging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Electrical Industries Ltd · Operations · 12 September 2026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are replacing the Excel costing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real project workbook (NPP-192) showed 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prices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same 800/5 A CT in one sheet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labour uplift, whatever the work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between costing and quotation — prices pasted as a picture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16459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sheets copied forward from old projects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3996842"/>
            <a:ext cx="281635" cy="28163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34440" y="3840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drift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41605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workbook is a copy of the last; old prices and even old dates travel with it. No price history, no approval step.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09360" y="388620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002" y="3996842"/>
            <a:ext cx="281635" cy="28163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995160" y="3840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guessed, not measured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995160" y="41605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is 25 % of material regardless of hours. A busbar-heavy board and a wiring-heavy board cost the same to build on paper.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5277002"/>
            <a:ext cx="281635" cy="28163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234440" y="5120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Retyping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1234440" y="5440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quotation is edited by hand from the sheet: quantities in the technical offer already differ from the costing.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309360" y="516636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02" y="5277002"/>
            <a:ext cx="281635" cy="28163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995160" y="5120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view across panels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995160" y="5440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and similar boards live on separate sheets; nobody sees the whole project at once.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CostMatrix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are the unit of costing; prices freeze the moment they are used; labour is hours × 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737360" cy="2377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548640" cy="5486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735 components, 296 kits; EUR purchase price × landed factor → KES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0" y="2743200"/>
            <a:ext cx="137160" cy="228600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23160" y="1737360"/>
            <a:ext cx="1737360" cy="2377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874520"/>
            <a:ext cx="548640" cy="5486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021" y="19952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6032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560320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built from kits; labour per kit group in 3 process types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60520" y="2743200"/>
            <a:ext cx="137160" cy="228600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97680" y="1737360"/>
            <a:ext cx="1737360" cy="2377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34840" y="1874520"/>
            <a:ext cx="548640" cy="5486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541" y="199522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3484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434840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submitted → approved; revisions keep history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035040" y="2743200"/>
            <a:ext cx="137160" cy="228600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72200" y="1737360"/>
            <a:ext cx="1737360" cy="2377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09360" y="1874520"/>
            <a:ext cx="548640" cy="5486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061" y="199522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0936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309360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with 4 annexures, technical offer generated from the kits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909560" y="2743200"/>
            <a:ext cx="137160" cy="228600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046720" y="1737360"/>
            <a:ext cx="1737360" cy="2377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183880" y="1874520"/>
            <a:ext cx="548640" cy="5486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581" y="1995221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18388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BOMs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8183880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Switchgear, busbar, accessories, enclosure — by panel and by costing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9784080" y="2743200"/>
            <a:ext cx="137160" cy="228600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921240" y="1737360"/>
            <a:ext cx="1737360" cy="2377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058400" y="1874520"/>
            <a:ext cx="548640" cy="5486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9101" y="1995221"/>
            <a:ext cx="307238" cy="30723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05840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0058400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enquiries, follow-ups, won/lost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" y="4636922"/>
            <a:ext cx="281635" cy="28163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234440" y="4480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prices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1234440" y="4800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master price change never alters an existing costing; the KES price and the factor used are stored on every line.</a:t>
            </a:r>
            <a:endParaRPr lang="en-US" sz="1250" dirty="0"/>
          </a:p>
        </p:txBody>
      </p:sp>
      <p:sp>
        <p:nvSpPr>
          <p:cNvPr id="43" name="Shape 34"/>
          <p:cNvSpPr/>
          <p:nvPr/>
        </p:nvSpPr>
        <p:spPr>
          <a:xfrm>
            <a:off x="4389120" y="452628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9762" y="4636922"/>
            <a:ext cx="281635" cy="281635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074920" y="4480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Multi-company</a:t>
            </a:r>
            <a:endParaRPr lang="en-US" sz="1500" dirty="0"/>
          </a:p>
        </p:txBody>
      </p:sp>
      <p:sp>
        <p:nvSpPr>
          <p:cNvPr id="46" name="Text 36"/>
          <p:cNvSpPr txBox="1"/>
          <p:nvPr/>
        </p:nvSpPr>
        <p:spPr>
          <a:xfrm>
            <a:off x="5074920" y="4800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engineers and external contractors or consultants, each with their own discount, labour rates and margins.</a:t>
            </a:r>
            <a:endParaRPr lang="en-US" sz="1250" dirty="0"/>
          </a:p>
        </p:txBody>
      </p:sp>
      <p:sp>
        <p:nvSpPr>
          <p:cNvPr id="47" name="Shape 37"/>
          <p:cNvSpPr/>
          <p:nvPr/>
        </p:nvSpPr>
        <p:spPr>
          <a:xfrm>
            <a:off x="8229600" y="452628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242" y="4636922"/>
            <a:ext cx="281635" cy="28163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8915400" y="44805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grow</a:t>
            </a:r>
            <a:endParaRPr lang="en-US" sz="1500" dirty="0"/>
          </a:p>
        </p:txBody>
      </p:sp>
      <p:sp>
        <p:nvSpPr>
          <p:cNvPr id="50" name="Text 39"/>
          <p:cNvSpPr txBox="1"/>
          <p:nvPr/>
        </p:nvSpPr>
        <p:spPr>
          <a:xfrm>
            <a:off x="8915400" y="48006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tracks: the basic app stays live as our back-up while the advanced app is built and proven on staging.</a:t>
            </a:r>
            <a:endParaRPr lang="en-US" sz="1250" dirty="0"/>
          </a:p>
        </p:txBody>
      </p:sp>
      <p:sp>
        <p:nvSpPr>
          <p:cNvPr id="51" name="Text 4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— two tracks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app in production, advanced app on its own staging environment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app · live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kits, costing engine, approval, quotation PDF, BOMs, CRM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library seeded: 735 components, 296 kits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NPP-192 acceptance figure reproduced from the seed: KES 3,622,781.80 material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owed by us: labour hours for 17 kit groups, 8 part prices, the Form 3B/4B enclosure uplift rule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NPP-192 end-to-end trial on production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app · staging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F1–F12 built: part attributes, kit versions, labour actuals, documents with text extraction, activity log, approval rules, import framework, physical dimensions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core and screens built (propose-only; live test pending)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price-list import built; BOM import in progress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staging database and preview site; nothing reaches production until tested and behind a per-company switch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library — components and kits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 from the staging 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5559552" cy="294711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868b2055-9e25-5e23-b410-26df3dc73c70/scratchpad/deck/img/app_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486400" cy="28739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56560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purchase price in EUR, landed KES price, category, unit, history per part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72784" y="1563624"/>
            <a:ext cx="5422392" cy="285631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tmp/claude-0/-home-claude/868b2055-9e25-5e23-b410-26df3dc73c70/scratchpad/deck/img/app_ki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349240" cy="278316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09360" y="4474803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Kits: a main device plus its busbar, cable and accessories; the kit group carries labour hours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Costing, documents and outputs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attached to a costing are read automatically so the assistant can use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6656832" cy="30188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868b2055-9e25-5e23-b410-26df3dc73c70/scratchpad/deck/img/app_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583680" cy="29457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63735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NPP-192 quotation PDF attached to a costing on staging — text extracted ("read") within a minute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98080" y="169164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722" y="1802282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83880" y="16459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PDF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18388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letter, notes, price schedule, terms, technical offer — generated from the costing, letterhead per company.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498080" y="288036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722" y="299100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83880" y="2834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BOMs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183880" y="31546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Switchgear · busbar (size, metres, kg) · accessories &amp; hardware · fabricated enclosure parts.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498080" y="406908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722" y="417972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183880" y="4023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183880" y="43434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after approval create Rev 1, Rev 2… the old revision stays read-only.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498080" y="525780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722" y="5368442"/>
            <a:ext cx="281635" cy="28163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83880" y="5212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8183880" y="55321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specs, single-line diagrams, tender schedules, supplier price lists — stored per company, text read for search and AI.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assistant — proposes, never decides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switched on for staging; first live run pending a small Anthropic credit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18480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691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Attach the enquiry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011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Spec, single-line diagram or tender schedule on the enquiry or costing.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173736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002" y="184800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95160" y="1691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Draft this costing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995160" y="2011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reads the documents and proposes panels, kits and quantities from our own library — with the sentence and page that justified each line, and a confidence.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326532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1089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 reviews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34290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change or reject line by line; unresolved items are listed, never invented; low-confidence lines start rejected.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09360" y="315468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02" y="3265322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95160" y="31089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Apply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6995160" y="34290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accepted lines are written, through the same engine as the kit picker; prices frozen, lines marked as the assistant's, who applied them recorded.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4682642"/>
            <a:ext cx="281635" cy="28163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4526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approval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234440" y="48463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card: missing items, placeholder parts, prices older than 90 days, margin below policy, mismatches with the spec.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309360" y="452628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492240" y="4617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rails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a price or a part number · acts as the signed-in user, so it sees only what they see · off for every company until the master administrator switches it on · usage and budget per company · key stored on the server, never in the browser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data in — price lists and BOMs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catalogue or a costing changes until a person accepts each row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price lists · built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CSV, Excel or PDF; map the columns once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matched to the catalogue four ways; ambiguity reported, not guessed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price → new price with % change, per row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per row or all; every accepted price keeps its source and date in the history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also where the 8 unpriced parts go 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 import · in progress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parts list from EPLAN, a consultant or a customer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numbers and manufacturer numbers matched; where a device is a kit's main device, the kit is proposed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rows: manual choice or a placeholder part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as a draft panel through the same review screen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view · panels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design — panels as columns, kits and components as rows, editable in place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517904"/>
            <a:ext cx="6530279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868b2055-9e25-5e23-b410-26df3dc73c70/scratchpad/deck/img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457127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78308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122" y="1893722"/>
            <a:ext cx="281635" cy="28163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098280" y="1737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9098280" y="20574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panels; differing quantities light up in amber.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412480" y="297180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22" y="3082442"/>
            <a:ext cx="281635" cy="2816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98280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panel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098280" y="32461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of similar boards starts from one column.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412480" y="416052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3122" y="4271162"/>
            <a:ext cx="281635" cy="28163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98280" y="4114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per panel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9098280" y="4434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labour, selling and rounded price; all panels × quantity at the right.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412480" y="534924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122" y="5459882"/>
            <a:ext cx="281635" cy="28163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098280" y="5303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9098280" y="56235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layout exported for the team or the customer.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view · panel layout at true scale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SIVACON S4 sections drawn at EPLAN Pro Panel level: real device faces, busbars, covers, cables, tags and dimensions — the fit verdict counts module heights, not guesses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517904"/>
            <a:ext cx="7752283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868b2055-9e25-5e23-b410-26df3dc73c70/scratchpad/deck/img/hifi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679131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61120" y="178308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1762" y="1893722"/>
            <a:ext cx="281635" cy="28163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46920" y="1737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rules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9646920" y="20574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 (MCB, contactor, meter, terminal) · one MCCB per cover, horizontal · ACB, ATS, changeover, isolator fed from the main busbar.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961120" y="333756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762" y="3448202"/>
            <a:ext cx="281635" cy="2816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46920" y="32918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46920" y="3611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kit dropped on a section lands on the right cover or plate; the app says when a section is full and suggests the fix.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961120" y="480060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762" y="4911242"/>
            <a:ext cx="281635" cy="28163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46920" y="4754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line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9646920" y="50749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 proposes the cubicles; one click writes them into the costing.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layout · rear view, 3D view and double-front boards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connection, customer picture, and both faces editable on our own double-front fabrication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3730752" cy="233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868b2055-9e25-5e23-b410-26df3dc73c70/scratchpad/deck/img/hifi/Rea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657600" cy="2264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956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view: lugs and cables on rear-connection sections, cable schedule, copper summary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306824" y="1563624"/>
            <a:ext cx="3730752" cy="233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tmp/claude-0/-home-claude/868b2055-9e25-5e23-b410-26df3dc73c70/scratchpad/deck/img/hifi/Iso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00200"/>
            <a:ext cx="3657600" cy="22647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43400" y="3956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view: isometric picture for the offer, doors closed or removed per section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8101584" y="1563624"/>
            <a:ext cx="3639312" cy="228130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/tmp/claude-0/-home-claude/868b2055-9e25-5e23-b410-26df3dc73c70/scratchpad/deck/img/hifi/DoubleFro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00200"/>
            <a:ext cx="3566160" cy="220814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38160" y="3899789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Double-front KPLC meter board: face A and face B, shared bottom busbar, fit per face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5002682"/>
            <a:ext cx="281635" cy="28163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48463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Double-front is standard for us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234440" y="51663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fabrication on an S4-style frame, busbar between the faces; used mainly for KPLC meter boards — MCB, meter and terminal plates on one face, changeover and terminals on the other.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309360" y="489204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002" y="5002682"/>
            <a:ext cx="281635" cy="28163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995160" y="48463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per face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6995160" y="51663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double-front section fits only when both faces fit; the GA sketch prints a front and a rear elevation.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layout · meter board, depth and form of separation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tool, three more views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3730752" cy="270641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868b2055-9e25-5e23-b410-26df3dc73c70/scratchpad/deck/img/layout_me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657600" cy="26332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2490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board: four plate types stacked in the smallest box that fits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306824" y="1563624"/>
            <a:ext cx="3730752" cy="24147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tmp/claude-0/-home-claude/868b2055-9e25-5e23-b410-26df3dc73c70/scratchpad/deck/img/layout_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00200"/>
            <a:ext cx="3657600" cy="234161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43400" y="403325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view: cable alley beside or behind the plates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8101584" y="1563624"/>
            <a:ext cx="3639312" cy="235622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/tmp/claude-0/-home-claude/868b2055-9e25-5e23-b410-26df3dc73c70/scratchpad/deck/img/layout_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00200"/>
            <a:ext cx="3566160" cy="228307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38160" y="3974713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2B / 3B / 4B partitions feed the enclosure uplift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5185562"/>
            <a:ext cx="281635" cy="28163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5029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settings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234440" y="53492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alley beside or behind, vertical busbar left or right, depth 600 / 800 / 1000 — each changes plate width and the enclosure the costing needs.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309360" y="507492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002" y="5185562"/>
            <a:ext cx="281635" cy="28163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995160" y="50292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from the drawing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6995160" y="53492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and shrouds are counted per section, so the Form 3B/4B uplift is calculated, not typed — once the rule is defined.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layout · the GA sketch in Annexure IV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layout printed as a general-arrangement drawing with device tags and dimensions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517904"/>
            <a:ext cx="6801307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868b2055-9e25-5e23-b410-26df3dc73c70/scratchpad/deck/img/layout_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728155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78308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482" y="1893722"/>
            <a:ext cx="281635" cy="28163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49640" y="1737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Generated, not drawn twice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549640" y="2057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layout that sized the enclosure becomes the drawing the customer sees — quantities cannot drift between costing, offer and drawing.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863840" y="315468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482" y="3265322"/>
            <a:ext cx="281635" cy="2816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49640" y="3108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tags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549640" y="34290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Q1, Q2… follow the kits; the technical offer bullets and the drawing use the same list.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863840" y="4526280"/>
            <a:ext cx="502920" cy="50292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4482" y="4636922"/>
            <a:ext cx="281635" cy="28163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549640" y="44805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PDF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549640" y="48006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with the quotation; also usable by the workshop as a build reference.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EPLAN, the switchgear makers' configurators, estimating tools and CPQ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00200" y="1737360"/>
            <a:ext cx="548640" cy="5486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00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48840" y="2011680"/>
            <a:ext cx="22860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63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F1–F12 · AI assistant · supplier price lists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83480" y="2011680"/>
            <a:ext cx="22860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83280" y="29260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6160" y="3063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import · grid view · approval rules · quotation validity and follow-ups · options and alternatives · estimate vs actual labour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1737360"/>
            <a:ext cx="548640" cy="5486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18120" y="2011680"/>
            <a:ext cx="22860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17920" y="29260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063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board configurator · APFC configurator · parameterised kits · compatibility checks · labour standards from actual hours · sales analytics · panel layout canvas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104120" y="1737360"/>
            <a:ext cx="548640" cy="548640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041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052560" y="29260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35440" y="3063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Busbar run calculator · enclosure fill check from dimensions · Word/EPLAN exports · e-signature and customer portal · supplier price feeds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CostMatrix · internal · September 2026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team needs to supply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is ahead of the data — these four inputs unlock real costings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78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hours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4231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kit group for assembly, wiring and busbar fabrication — 17 groups. Without them labour shows as zero.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21781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prices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4231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unpriced parts used by the APFC breaker kits and the meterboard kits, plus the 200 A MCCB part number.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" y="384048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41897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4348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Width, height, depth and mounting type per device from the Siemens and C&amp;S catalogues — the layout canvas depends on them.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84048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069080"/>
            <a:ext cx="548640" cy="5486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418978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uplift rule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44348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Form 3B/4B, partitions and extras add to the catalogue cubicle price.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the NPP-192 trial on production, the first live AI draft, and the grid and layout builds in the order shown.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CostMatrix — all views</dc:title>
  <dc:subject>PptxGenJS Presentation</dc:subject>
  <dc:creator>CostMatrix</dc:creator>
  <cp:lastModifiedBy>CostMatrix</cp:lastModifiedBy>
  <cp:revision>1</cp:revision>
  <dcterms:created xsi:type="dcterms:W3CDTF">2026-09-12T17:18:30Z</dcterms:created>
  <dcterms:modified xsi:type="dcterms:W3CDTF">2026-09-12T17:18:30Z</dcterms:modified>
</cp:coreProperties>
</file>